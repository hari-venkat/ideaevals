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70" r:id="rId4"/>
    <p:sldId id="267" r:id="rId5"/>
    <p:sldId id="261" r:id="rId6"/>
    <p:sldId id="268" r:id="rId7"/>
    <p:sldId id="262" r:id="rId8"/>
    <p:sldId id="263" r:id="rId9"/>
    <p:sldId id="265" r:id="rId10"/>
    <p:sldId id="266" r:id="rId11"/>
    <p:sldId id="269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117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941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14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900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04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551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97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92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38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430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92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30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812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34A388-09DF-665C-3415-3A27F3B2BA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Pathfinder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8E8EBBE-3C0A-F103-B922-2B3840307E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Integrating GenAI with Graph Database for the Enterprise</a:t>
            </a:r>
          </a:p>
        </p:txBody>
      </p:sp>
    </p:spTree>
    <p:extLst>
      <p:ext uri="{BB962C8B-B14F-4D97-AF65-F5344CB8AC3E}">
        <p14:creationId xmlns:p14="http://schemas.microsoft.com/office/powerpoint/2010/main" val="83202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2,900+ Ai Brain Logo Stock Illustrations, Royalty-Free Vector Graphics &amp;  Clip Art - iStock">
            <a:extLst>
              <a:ext uri="{FF2B5EF4-FFF2-40B4-BE49-F238E27FC236}">
                <a16:creationId xmlns:a16="http://schemas.microsoft.com/office/drawing/2014/main" id="{C1019041-251E-B8D5-725A-83B2F9019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9" y="3789796"/>
            <a:ext cx="1630073" cy="993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7BC3AA-21B3-CF58-B5B4-81A1E67B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Analyst View on Gen AI, Graph DB &amp; Ontologies</a:t>
            </a:r>
          </a:p>
        </p:txBody>
      </p:sp>
      <p:pic>
        <p:nvPicPr>
          <p:cNvPr id="4" name="Picture 2" descr="Gartner">
            <a:extLst>
              <a:ext uri="{FF2B5EF4-FFF2-40B4-BE49-F238E27FC236}">
                <a16:creationId xmlns:a16="http://schemas.microsoft.com/office/drawing/2014/main" id="{F794BAE0-17C1-7256-5E5D-11B32C473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62" y="1715735"/>
            <a:ext cx="1058900" cy="105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8399D3-196E-0196-FDDF-AE8FD884EA35}"/>
              </a:ext>
            </a:extLst>
          </p:cNvPr>
          <p:cNvSpPr/>
          <p:nvPr/>
        </p:nvSpPr>
        <p:spPr>
          <a:xfrm>
            <a:off x="291922" y="2483822"/>
            <a:ext cx="2861859" cy="12987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i="1" dirty="0">
                <a:solidFill>
                  <a:srgbClr val="293342"/>
                </a:solidFill>
                <a:effectLst/>
                <a:latin typeface="Avenir"/>
              </a:rPr>
              <a:t>By 2025,</a:t>
            </a:r>
          </a:p>
          <a:p>
            <a:pPr algn="ctr"/>
            <a:r>
              <a:rPr lang="en-US" sz="1400" b="0" i="1" dirty="0">
                <a:solidFill>
                  <a:srgbClr val="293342"/>
                </a:solidFill>
                <a:effectLst/>
                <a:latin typeface="Avenir"/>
              </a:rPr>
              <a:t> 10% of all global data produced will come from generative AI.</a:t>
            </a:r>
            <a:endParaRPr lang="en-IN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534F12-4262-8FA8-8FD7-49A4626D7709}"/>
              </a:ext>
            </a:extLst>
          </p:cNvPr>
          <p:cNvSpPr/>
          <p:nvPr/>
        </p:nvSpPr>
        <p:spPr>
          <a:xfrm>
            <a:off x="3234141" y="2483822"/>
            <a:ext cx="2861859" cy="12987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i="1" dirty="0">
                <a:solidFill>
                  <a:srgbClr val="293342"/>
                </a:solidFill>
                <a:effectLst/>
                <a:latin typeface="Avenir"/>
              </a:rPr>
              <a:t>Users expect answers to the questions, not list of links to resources that might get the answers</a:t>
            </a:r>
            <a:endParaRPr lang="en-IN" sz="1400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D3196786-8545-FF08-9842-11103F8B9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8219" y="2142895"/>
            <a:ext cx="763648" cy="204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F4DD14D-81BC-EB72-9690-F197E1C87E19}"/>
              </a:ext>
            </a:extLst>
          </p:cNvPr>
          <p:cNvSpPr/>
          <p:nvPr/>
        </p:nvSpPr>
        <p:spPr>
          <a:xfrm>
            <a:off x="9118579" y="2483822"/>
            <a:ext cx="2861859" cy="12987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i="1" dirty="0">
                <a:solidFill>
                  <a:srgbClr val="293342"/>
                </a:solidFill>
                <a:effectLst/>
                <a:latin typeface="Avenir"/>
              </a:rPr>
              <a:t>75% of Fortune 500 companies are actively engaged in semantics initiatives as part of the data strategy</a:t>
            </a:r>
            <a:endParaRPr lang="en-IN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C28BD3-5D32-DAB3-A6F5-4C2CFEDD3B9D}"/>
              </a:ext>
            </a:extLst>
          </p:cNvPr>
          <p:cNvSpPr/>
          <p:nvPr/>
        </p:nvSpPr>
        <p:spPr>
          <a:xfrm>
            <a:off x="6176360" y="2483822"/>
            <a:ext cx="2861859" cy="12987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i="1" dirty="0">
                <a:solidFill>
                  <a:srgbClr val="293342"/>
                </a:solidFill>
                <a:effectLst/>
                <a:latin typeface="Avenir"/>
              </a:rPr>
              <a:t>By 2025, </a:t>
            </a:r>
          </a:p>
          <a:p>
            <a:pPr algn="ctr"/>
            <a:r>
              <a:rPr lang="en-US" sz="1400" b="0" i="1" dirty="0">
                <a:solidFill>
                  <a:srgbClr val="293342"/>
                </a:solidFill>
                <a:effectLst/>
                <a:latin typeface="Avenir"/>
              </a:rPr>
              <a:t>graph technologies will be used in 80% of data and analytics innovations</a:t>
            </a:r>
            <a:endParaRPr lang="en-I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52A0C3-DDE1-BDFB-E6E0-482A8655F07C}"/>
              </a:ext>
            </a:extLst>
          </p:cNvPr>
          <p:cNvSpPr/>
          <p:nvPr/>
        </p:nvSpPr>
        <p:spPr>
          <a:xfrm>
            <a:off x="291922" y="5260394"/>
            <a:ext cx="2326587" cy="7801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 human-like text based on input prompts or context.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D42FAE-11F8-8ED2-CBA4-FBE362BD1050}"/>
              </a:ext>
            </a:extLst>
          </p:cNvPr>
          <p:cNvSpPr/>
          <p:nvPr/>
        </p:nvSpPr>
        <p:spPr>
          <a:xfrm>
            <a:off x="9653851" y="5260393"/>
            <a:ext cx="2326587" cy="7801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>
                <a:solidFill>
                  <a:srgbClr val="2933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Generates, Image, Music and Video as per the prompts provided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E275B3-0D8D-32A4-483B-B93F7EC0595D}"/>
              </a:ext>
            </a:extLst>
          </p:cNvPr>
          <p:cNvSpPr/>
          <p:nvPr/>
        </p:nvSpPr>
        <p:spPr>
          <a:xfrm>
            <a:off x="2632404" y="5260393"/>
            <a:ext cx="2326587" cy="7801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 synthetic data to augment existing datasets for training machine learning models.</a:t>
            </a:r>
            <a:endParaRPr lang="en-IN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B0E0F2-07CD-D55F-3BEC-E4B7E4BDF49B}"/>
              </a:ext>
            </a:extLst>
          </p:cNvPr>
          <p:cNvSpPr/>
          <p:nvPr/>
        </p:nvSpPr>
        <p:spPr>
          <a:xfrm>
            <a:off x="4972886" y="5260393"/>
            <a:ext cx="2326587" cy="7801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 3D models for designs, virtual environments, and simulations.</a:t>
            </a:r>
            <a:endParaRPr lang="en-IN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44AB84-E470-2349-A5CC-30A6AE7B1238}"/>
              </a:ext>
            </a:extLst>
          </p:cNvPr>
          <p:cNvSpPr/>
          <p:nvPr/>
        </p:nvSpPr>
        <p:spPr>
          <a:xfrm>
            <a:off x="7313368" y="5260393"/>
            <a:ext cx="2326587" cy="7801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rgbClr val="29334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 human-like speech and can be used for text-to-speech synthesis, voice assistants,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A22516-AC1A-501A-E2F9-265E24307318}"/>
              </a:ext>
            </a:extLst>
          </p:cNvPr>
          <p:cNvSpPr/>
          <p:nvPr/>
        </p:nvSpPr>
        <p:spPr>
          <a:xfrm>
            <a:off x="291922" y="4667548"/>
            <a:ext cx="2326587" cy="58558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Generation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DFAEC9-1128-0CA0-17A1-075CCADDC8C8}"/>
              </a:ext>
            </a:extLst>
          </p:cNvPr>
          <p:cNvSpPr/>
          <p:nvPr/>
        </p:nvSpPr>
        <p:spPr>
          <a:xfrm>
            <a:off x="9653851" y="4667547"/>
            <a:ext cx="2326587" cy="58558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Image, Music and Video Generation</a:t>
            </a:r>
            <a:endParaRPr lang="en-IN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E9F128-7816-BDEF-53C2-6DF41C7DD7ED}"/>
              </a:ext>
            </a:extLst>
          </p:cNvPr>
          <p:cNvSpPr/>
          <p:nvPr/>
        </p:nvSpPr>
        <p:spPr>
          <a:xfrm>
            <a:off x="2632404" y="4667547"/>
            <a:ext cx="2326587" cy="58558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Augmentation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76CE66-1B59-8765-A4F3-94A9BFBFE903}"/>
              </a:ext>
            </a:extLst>
          </p:cNvPr>
          <p:cNvSpPr/>
          <p:nvPr/>
        </p:nvSpPr>
        <p:spPr>
          <a:xfrm>
            <a:off x="4972886" y="4667547"/>
            <a:ext cx="2326587" cy="58558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Model Generation</a:t>
            </a:r>
            <a:endParaRPr lang="en-IN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901DBA-9E49-E17D-0391-88A135677014}"/>
              </a:ext>
            </a:extLst>
          </p:cNvPr>
          <p:cNvSpPr/>
          <p:nvPr/>
        </p:nvSpPr>
        <p:spPr>
          <a:xfrm>
            <a:off x="7313368" y="4667547"/>
            <a:ext cx="2326587" cy="58558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Speech Generation</a:t>
            </a:r>
            <a:endParaRPr lang="en-IN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548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9CF95EE-CC4C-5968-0672-B69A900EB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/>
          <a:lstStyle/>
          <a:p>
            <a:r>
              <a:rPr lang="en-US" dirty="0"/>
              <a:t>Pathfinder - Use Case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BE940C-043D-D961-315E-A4B4DD309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64" y="2300983"/>
            <a:ext cx="5311931" cy="4008377"/>
          </a:xfrm>
          <a:prstGeom prst="rect">
            <a:avLst/>
          </a:prstGeom>
        </p:spPr>
      </p:pic>
      <p:pic>
        <p:nvPicPr>
          <p:cNvPr id="6" name="Picture 5" descr="A diagram of a bird&#10;&#10;Description automatically generated">
            <a:extLst>
              <a:ext uri="{FF2B5EF4-FFF2-40B4-BE49-F238E27FC236}">
                <a16:creationId xmlns:a16="http://schemas.microsoft.com/office/drawing/2014/main" id="{ECCD6D38-C487-B051-D5EF-09E16A081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595" y="2562096"/>
            <a:ext cx="5989984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79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7FF6F-CD2C-36C9-FC72-46853BC54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 AI – Challenges it poses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73C8-4497-CC90-6B48-40D266579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Implicit Knowledge / Knowledge Cut off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Hallucination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Indecisiveness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Lack of enterprise domain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Reasonable answers but not always accurate</a:t>
            </a:r>
          </a:p>
        </p:txBody>
      </p:sp>
    </p:spTree>
    <p:extLst>
      <p:ext uri="{BB962C8B-B14F-4D97-AF65-F5344CB8AC3E}">
        <p14:creationId xmlns:p14="http://schemas.microsoft.com/office/powerpoint/2010/main" val="2931880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26D7A-13E6-96D4-A9CF-BE66C30F6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Shortcomings of Traditional RDBMS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CE1CE-1A0F-E0A0-002D-252FD372D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models tables and keys, not business concepts</a:t>
            </a:r>
          </a:p>
          <a:p>
            <a:r>
              <a:rPr lang="en-US" dirty="0"/>
              <a:t>SQL lacks support for complex types</a:t>
            </a:r>
          </a:p>
          <a:p>
            <a:r>
              <a:rPr lang="en-US" dirty="0"/>
              <a:t>SQL has poor support for abstraction and reuse</a:t>
            </a:r>
          </a:p>
          <a:p>
            <a:r>
              <a:rPr lang="en-US" dirty="0"/>
              <a:t>SQL schemas are rigid, its difficult to add new relationships without schema surgery</a:t>
            </a:r>
          </a:p>
          <a:p>
            <a:r>
              <a:rPr lang="en-US" dirty="0"/>
              <a:t>No good way to express business rules and constraints</a:t>
            </a:r>
          </a:p>
        </p:txBody>
      </p:sp>
    </p:spTree>
    <p:extLst>
      <p:ext uri="{BB962C8B-B14F-4D97-AF65-F5344CB8AC3E}">
        <p14:creationId xmlns:p14="http://schemas.microsoft.com/office/powerpoint/2010/main" val="2205623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E37AFD8-49EE-4E57-8DAD-71736702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E2721-D1BC-BA42-5806-CC78EB751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6928"/>
            <a:ext cx="4572000" cy="1161288"/>
          </a:xfrm>
        </p:spPr>
        <p:txBody>
          <a:bodyPr anchor="b">
            <a:normAutofit/>
          </a:bodyPr>
          <a:lstStyle/>
          <a:p>
            <a:r>
              <a:rPr lang="en-US" sz="3600"/>
              <a:t>Why use Graph for Gen AI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CBB4E-4628-7898-4E67-D31928EBC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400"/>
            <a:ext cx="4572000" cy="3776472"/>
          </a:xfrm>
        </p:spPr>
        <p:txBody>
          <a:bodyPr>
            <a:normAutofit/>
          </a:bodyPr>
          <a:lstStyle/>
          <a:p>
            <a:r>
              <a:rPr lang="en-US" sz="1800" dirty="0"/>
              <a:t>Structured Data &amp; Relationships</a:t>
            </a:r>
          </a:p>
          <a:p>
            <a:r>
              <a:rPr lang="en-US" sz="1800" dirty="0"/>
              <a:t>Explainability and Traceability</a:t>
            </a:r>
          </a:p>
          <a:p>
            <a:r>
              <a:rPr lang="en-US" sz="1800" dirty="0"/>
              <a:t>Support more diverse and complex queries</a:t>
            </a:r>
          </a:p>
          <a:p>
            <a:r>
              <a:rPr lang="en-US" sz="1800" dirty="0"/>
              <a:t>Consistency Vs Hallucination</a:t>
            </a:r>
          </a:p>
          <a:p>
            <a:r>
              <a:rPr lang="en-US" sz="1800" dirty="0"/>
              <a:t>Low Latency Retrieval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C6753-9C48-C1AA-F62D-BC6C35FC2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878" y="982336"/>
            <a:ext cx="2496896" cy="1479325"/>
          </a:xfrm>
          <a:prstGeom prst="rect">
            <a:avLst/>
          </a:prstGeom>
        </p:spPr>
      </p:pic>
      <p:pic>
        <p:nvPicPr>
          <p:cNvPr id="11" name="Picture 16" descr="Better Together | Live Well UT | Univertsity of Tampa Diversity">
            <a:extLst>
              <a:ext uri="{FF2B5EF4-FFF2-40B4-BE49-F238E27FC236}">
                <a16:creationId xmlns:a16="http://schemas.microsoft.com/office/drawing/2014/main" id="{CCA92250-ACAF-44D0-6BD8-BE0585554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50809" y="936756"/>
            <a:ext cx="2496895" cy="1570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34744D3-B068-4646-83B8-525E6D15D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6112341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048A18-0381-485F-B557-E17906AE6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96768" y="3817404"/>
            <a:ext cx="54864" cy="45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42D5260-43D2-A17C-59E8-4317573C894B}"/>
              </a:ext>
            </a:extLst>
          </p:cNvPr>
          <p:cNvGrpSpPr/>
          <p:nvPr/>
        </p:nvGrpSpPr>
        <p:grpSpPr>
          <a:xfrm>
            <a:off x="6138778" y="3952405"/>
            <a:ext cx="5208920" cy="974577"/>
            <a:chOff x="4254215" y="5610122"/>
            <a:chExt cx="4770515" cy="892552"/>
          </a:xfrm>
        </p:grpSpPr>
        <p:pic>
          <p:nvPicPr>
            <p:cNvPr id="6" name="Picture 2" descr="ChatGPT and Large Language Models: the Holy Grail of Enterprise AI? |  Cortical.io">
              <a:extLst>
                <a:ext uri="{FF2B5EF4-FFF2-40B4-BE49-F238E27FC236}">
                  <a16:creationId xmlns:a16="http://schemas.microsoft.com/office/drawing/2014/main" id="{0C3C5CB3-CEFE-E1CB-2ECE-FB9B15E4BA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4215" y="5615181"/>
              <a:ext cx="882435" cy="8824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Elwin Luis Huaman Quispe / Knowledge-Graphs · GitLab">
              <a:extLst>
                <a:ext uri="{FF2B5EF4-FFF2-40B4-BE49-F238E27FC236}">
                  <a16:creationId xmlns:a16="http://schemas.microsoft.com/office/drawing/2014/main" id="{3B2AA2BE-58A2-24CF-3504-5B85407971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8964" y="5700807"/>
              <a:ext cx="760343" cy="7111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ABA5E5-C98E-1405-5439-7E92DFAC0F93}"/>
                </a:ext>
              </a:extLst>
            </p:cNvPr>
            <p:cNvSpPr txBox="1"/>
            <p:nvPr/>
          </p:nvSpPr>
          <p:spPr>
            <a:xfrm>
              <a:off x="5148440" y="5610122"/>
              <a:ext cx="1235631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85" algn="just" defTabSz="996696">
                <a:spcBef>
                  <a:spcPts val="655"/>
                </a:spcBef>
                <a:buClr>
                  <a:srgbClr val="4E84C4"/>
                </a:buClr>
                <a:defRPr/>
              </a:pPr>
              <a:r>
                <a:rPr lang="en-US" sz="1526" kern="120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Language</a:t>
              </a:r>
            </a:p>
            <a:p>
              <a:pPr marL="785" algn="just" defTabSz="996696">
                <a:spcBef>
                  <a:spcPts val="655"/>
                </a:spcBef>
                <a:buClr>
                  <a:srgbClr val="4E84C4"/>
                </a:buClr>
                <a:defRPr/>
              </a:pPr>
              <a:r>
                <a:rPr lang="en-US" sz="1526" kern="120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Statistics</a:t>
              </a:r>
            </a:p>
            <a:p>
              <a:pPr marL="785" algn="just" defTabSz="996696">
                <a:spcBef>
                  <a:spcPts val="655"/>
                </a:spcBef>
                <a:buClr>
                  <a:srgbClr val="4E84C4"/>
                </a:buClr>
                <a:defRPr/>
              </a:pPr>
              <a:r>
                <a:rPr lang="en-US" sz="1526" kern="120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Creativity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957B00-037A-EA9B-5557-925065CD2F52}"/>
                </a:ext>
              </a:extLst>
            </p:cNvPr>
            <p:cNvSpPr txBox="1"/>
            <p:nvPr/>
          </p:nvSpPr>
          <p:spPr>
            <a:xfrm>
              <a:off x="7091321" y="5610122"/>
              <a:ext cx="1933409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85" algn="just" defTabSz="996696">
                <a:spcBef>
                  <a:spcPts val="655"/>
                </a:spcBef>
                <a:buClr>
                  <a:srgbClr val="4E84C4"/>
                </a:buClr>
                <a:defRPr/>
              </a:pPr>
              <a:r>
                <a:rPr lang="en-US" sz="1526" kern="120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Knowledge</a:t>
              </a:r>
            </a:p>
            <a:p>
              <a:pPr marL="785" algn="just" defTabSz="996696">
                <a:spcBef>
                  <a:spcPts val="655"/>
                </a:spcBef>
                <a:buClr>
                  <a:srgbClr val="4E84C4"/>
                </a:buClr>
                <a:defRPr/>
              </a:pPr>
              <a:r>
                <a:rPr lang="en-US" sz="1526" kern="120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Facts</a:t>
              </a:r>
            </a:p>
            <a:p>
              <a:pPr marL="785" algn="just" defTabSz="996696">
                <a:spcBef>
                  <a:spcPts val="655"/>
                </a:spcBef>
                <a:buClr>
                  <a:srgbClr val="4E84C4"/>
                </a:buClr>
                <a:defRPr/>
              </a:pPr>
              <a:r>
                <a:rPr lang="en-US" sz="1526" kern="120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Context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" name="Picture 12" descr="plus&quot; Icon - Download for free – Iconduck">
              <a:extLst>
                <a:ext uri="{FF2B5EF4-FFF2-40B4-BE49-F238E27FC236}">
                  <a16:creationId xmlns:a16="http://schemas.microsoft.com/office/drawing/2014/main" id="{5076DF1B-BB68-4971-810E-3E0FFFAABF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8691" y="5924265"/>
              <a:ext cx="264266" cy="2642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76798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D27C6-0724-8CC9-CCFE-79C8B0FFF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Knowledge Graph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16475-57D3-104B-B95F-1823CACCB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278" y="2478024"/>
            <a:ext cx="4744904" cy="3694176"/>
          </a:xfrm>
        </p:spPr>
        <p:txBody>
          <a:bodyPr/>
          <a:lstStyle/>
          <a:p>
            <a:r>
              <a:rPr lang="en-US" dirty="0"/>
              <a:t>A knowledge graph is a database, that models business concepts, the relationships between them and the associated business rules &amp; constraints.</a:t>
            </a:r>
          </a:p>
        </p:txBody>
      </p:sp>
      <p:pic>
        <p:nvPicPr>
          <p:cNvPr id="5" name="Picture 4" descr="A diagram of a network&#10;&#10;Description automatically generated with medium confidence">
            <a:extLst>
              <a:ext uri="{FF2B5EF4-FFF2-40B4-BE49-F238E27FC236}">
                <a16:creationId xmlns:a16="http://schemas.microsoft.com/office/drawing/2014/main" id="{FDB9776C-595B-71CB-46D0-0F336A5B8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162" y="2478023"/>
            <a:ext cx="4544825" cy="369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331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3295C-9EDE-9634-5952-3D445190B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Graphs - Triples</a:t>
            </a:r>
          </a:p>
        </p:txBody>
      </p:sp>
      <p:pic>
        <p:nvPicPr>
          <p:cNvPr id="1026" name="Picture 2" descr="Bring Order to Chaos: A Graph-Based Journey from Textual Data to Wisdom">
            <a:extLst>
              <a:ext uri="{FF2B5EF4-FFF2-40B4-BE49-F238E27FC236}">
                <a16:creationId xmlns:a16="http://schemas.microsoft.com/office/drawing/2014/main" id="{BCD7CA75-AF3E-7168-0CAE-8F053FD62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0" y="2074196"/>
            <a:ext cx="619125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19F178-7153-0714-79AB-193616187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24" y="2074196"/>
            <a:ext cx="5277587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81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5C5CF-449E-2413-DF60-CBBE4DBBC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 AI for Knowledge Graph Creation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9360D8-1AA8-8164-5B7F-57FE8DF6D4ED}"/>
              </a:ext>
            </a:extLst>
          </p:cNvPr>
          <p:cNvSpPr/>
          <p:nvPr/>
        </p:nvSpPr>
        <p:spPr>
          <a:xfrm>
            <a:off x="5454682" y="2207368"/>
            <a:ext cx="6228706" cy="4524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 LLMs for creating of Ontologies which will act as a guide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0F65F0-5378-7A87-E462-06C0D5832503}"/>
              </a:ext>
            </a:extLst>
          </p:cNvPr>
          <p:cNvSpPr/>
          <p:nvPr/>
        </p:nvSpPr>
        <p:spPr>
          <a:xfrm>
            <a:off x="5454681" y="2718506"/>
            <a:ext cx="6228707" cy="6934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Identify and resolve entity mentions in text by using NLP – Named Entity Recognition (NER)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C36F28-C297-9F66-112D-316E95294E0C}"/>
              </a:ext>
            </a:extLst>
          </p:cNvPr>
          <p:cNvSpPr/>
          <p:nvPr/>
        </p:nvSpPr>
        <p:spPr>
          <a:xfrm>
            <a:off x="5454680" y="3507029"/>
            <a:ext cx="6228707" cy="6934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Extract semantic relationships from text data, uncover implicit relationship between entities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52E4B5-0270-722D-E016-9593E516DCD7}"/>
              </a:ext>
            </a:extLst>
          </p:cNvPr>
          <p:cNvSpPr/>
          <p:nvPr/>
        </p:nvSpPr>
        <p:spPr>
          <a:xfrm>
            <a:off x="5454680" y="4303694"/>
            <a:ext cx="6228707" cy="6934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By integrating Natural Language Understanding (NLU) models with KGs, interpret complex queries expressed in Natural Language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15755B-979A-6E66-07F0-41AADB5DFA0C}"/>
              </a:ext>
            </a:extLst>
          </p:cNvPr>
          <p:cNvSpPr/>
          <p:nvPr/>
        </p:nvSpPr>
        <p:spPr>
          <a:xfrm>
            <a:off x="5454679" y="5178148"/>
            <a:ext cx="6228707" cy="4087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Help to streamline the process of importing data into KG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A0612F-0BB0-8E3F-137A-151F7F44158E}"/>
              </a:ext>
            </a:extLst>
          </p:cNvPr>
          <p:cNvSpPr/>
          <p:nvPr/>
        </p:nvSpPr>
        <p:spPr>
          <a:xfrm>
            <a:off x="5454679" y="5615895"/>
            <a:ext cx="6228707" cy="693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Gen AI Models can analyze patterns and trends to make predictions and recommendations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7811E0-C1EA-B3B9-7ED0-2F35B202587B}"/>
              </a:ext>
            </a:extLst>
          </p:cNvPr>
          <p:cNvSpPr/>
          <p:nvPr/>
        </p:nvSpPr>
        <p:spPr>
          <a:xfrm>
            <a:off x="3039429" y="2004167"/>
            <a:ext cx="2415250" cy="655677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the Fly Ontologies	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716123-6D68-6F8C-CBD1-35AAA8DA13E9}"/>
              </a:ext>
            </a:extLst>
          </p:cNvPr>
          <p:cNvSpPr/>
          <p:nvPr/>
        </p:nvSpPr>
        <p:spPr>
          <a:xfrm>
            <a:off x="3039429" y="2763176"/>
            <a:ext cx="2415250" cy="655677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Entity Resolution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B30DBA-938C-34D3-A734-33A60920F168}"/>
              </a:ext>
            </a:extLst>
          </p:cNvPr>
          <p:cNvSpPr/>
          <p:nvPr/>
        </p:nvSpPr>
        <p:spPr>
          <a:xfrm>
            <a:off x="3039429" y="3522185"/>
            <a:ext cx="2415250" cy="655677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 Extraction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BB4F75-6EF6-D8E8-8B3E-688B2A75C0B9}"/>
              </a:ext>
            </a:extLst>
          </p:cNvPr>
          <p:cNvSpPr/>
          <p:nvPr/>
        </p:nvSpPr>
        <p:spPr>
          <a:xfrm>
            <a:off x="3025010" y="4281194"/>
            <a:ext cx="2415250" cy="715696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 Understanding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FEB440-3691-ADFE-4CDC-75FB8AE15DAF}"/>
              </a:ext>
            </a:extLst>
          </p:cNvPr>
          <p:cNvSpPr/>
          <p:nvPr/>
        </p:nvSpPr>
        <p:spPr>
          <a:xfrm>
            <a:off x="3039429" y="5100222"/>
            <a:ext cx="2415250" cy="397072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Integration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3A41B8-F3A1-5B06-24E4-DB8958FE7031}"/>
              </a:ext>
            </a:extLst>
          </p:cNvPr>
          <p:cNvSpPr/>
          <p:nvPr/>
        </p:nvSpPr>
        <p:spPr>
          <a:xfrm>
            <a:off x="3023563" y="5600624"/>
            <a:ext cx="2415250" cy="70873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Analysis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128F10-AF28-B2A1-FDD6-F1A6390F2D14}"/>
              </a:ext>
            </a:extLst>
          </p:cNvPr>
          <p:cNvGrpSpPr/>
          <p:nvPr/>
        </p:nvGrpSpPr>
        <p:grpSpPr>
          <a:xfrm>
            <a:off x="473034" y="2207368"/>
            <a:ext cx="1494981" cy="4101991"/>
            <a:chOff x="514598" y="903512"/>
            <a:chExt cx="1494981" cy="4101991"/>
          </a:xfrm>
        </p:grpSpPr>
        <p:pic>
          <p:nvPicPr>
            <p:cNvPr id="17" name="Picture 4" descr="10,478,900+ Document Stock Photos, Pictures &amp; Royalty-Free Images - iStock  | Document icon, Signing document, Legal document">
              <a:extLst>
                <a:ext uri="{FF2B5EF4-FFF2-40B4-BE49-F238E27FC236}">
                  <a16:creationId xmlns:a16="http://schemas.microsoft.com/office/drawing/2014/main" id="{A75140DE-3195-DD8B-FC61-A4FD054D89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7044" y="903512"/>
              <a:ext cx="356468" cy="358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8" descr="Unstructured Data Icon - Download in Line Style">
              <a:extLst>
                <a:ext uri="{FF2B5EF4-FFF2-40B4-BE49-F238E27FC236}">
                  <a16:creationId xmlns:a16="http://schemas.microsoft.com/office/drawing/2014/main" id="{DBAC7F1F-A068-EACC-58A0-902F998BB3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7742" y="903512"/>
              <a:ext cx="351837" cy="354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0" descr="Knowledge Graphs: Access, Manage, Share, and Derive Insights From Data Like  Never Before - BurstIQ">
              <a:extLst>
                <a:ext uri="{FF2B5EF4-FFF2-40B4-BE49-F238E27FC236}">
                  <a16:creationId xmlns:a16="http://schemas.microsoft.com/office/drawing/2014/main" id="{703A7340-FCBA-B8BA-8CC7-4C10B295D5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151" y="4141643"/>
              <a:ext cx="967745" cy="863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Database DB icon PNG and SVG Vector Free Download">
              <a:extLst>
                <a:ext uri="{FF2B5EF4-FFF2-40B4-BE49-F238E27FC236}">
                  <a16:creationId xmlns:a16="http://schemas.microsoft.com/office/drawing/2014/main" id="{B516A921-0B45-F61A-BF6D-7AC9029229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598" y="903512"/>
              <a:ext cx="291553" cy="355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" descr="AI Generic Blue icon">
              <a:extLst>
                <a:ext uri="{FF2B5EF4-FFF2-40B4-BE49-F238E27FC236}">
                  <a16:creationId xmlns:a16="http://schemas.microsoft.com/office/drawing/2014/main" id="{6EE98C9F-73E5-941B-E49B-3F01DB37D7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6873" y="2432290"/>
              <a:ext cx="1386302" cy="1386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D501D6B-7F32-7286-CA2B-27C91A3F71F5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>
              <a:off x="1290024" y="3429000"/>
              <a:ext cx="0" cy="712643"/>
            </a:xfrm>
            <a:prstGeom prst="straightConnector1">
              <a:avLst/>
            </a:prstGeom>
            <a:ln>
              <a:solidFill>
                <a:srgbClr val="F0378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3410CC1-F34C-DD72-8826-8FCB82441E23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 flipH="1">
              <a:off x="1469997" y="1257769"/>
              <a:ext cx="363664" cy="1432423"/>
            </a:xfrm>
            <a:prstGeom prst="straightConnector1">
              <a:avLst/>
            </a:prstGeom>
            <a:ln>
              <a:solidFill>
                <a:srgbClr val="F0378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25CF062-34A4-9843-A089-158802FA5995}"/>
                </a:ext>
              </a:extLst>
            </p:cNvPr>
            <p:cNvCxnSpPr>
              <a:cxnSpLocks/>
            </p:cNvCxnSpPr>
            <p:nvPr/>
          </p:nvCxnSpPr>
          <p:spPr>
            <a:xfrm>
              <a:off x="1263520" y="1237524"/>
              <a:ext cx="26504" cy="1452668"/>
            </a:xfrm>
            <a:prstGeom prst="straightConnector1">
              <a:avLst/>
            </a:prstGeom>
            <a:ln>
              <a:solidFill>
                <a:srgbClr val="F0378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C9C57A3-3A43-D192-C826-4DC8EECF9A02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660375" y="1258948"/>
              <a:ext cx="486944" cy="1431244"/>
            </a:xfrm>
            <a:prstGeom prst="straightConnector1">
              <a:avLst/>
            </a:prstGeom>
            <a:ln>
              <a:solidFill>
                <a:srgbClr val="F0378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496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B71AB-F10F-8443-C248-3C37A9698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 Enrichment of Data through GDS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7BDD56-650A-900C-8350-750401C80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470727"/>
              </p:ext>
            </p:extLst>
          </p:nvPr>
        </p:nvGraphicFramePr>
        <p:xfrm>
          <a:off x="530461" y="1948055"/>
          <a:ext cx="11338342" cy="4815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61642">
                  <a:extLst>
                    <a:ext uri="{9D8B030D-6E8A-4147-A177-3AD203B41FA5}">
                      <a16:colId xmlns:a16="http://schemas.microsoft.com/office/drawing/2014/main" val="1708534749"/>
                    </a:ext>
                  </a:extLst>
                </a:gridCol>
                <a:gridCol w="2519175">
                  <a:extLst>
                    <a:ext uri="{9D8B030D-6E8A-4147-A177-3AD203B41FA5}">
                      <a16:colId xmlns:a16="http://schemas.microsoft.com/office/drawing/2014/main" val="2385473448"/>
                    </a:ext>
                  </a:extLst>
                </a:gridCol>
                <a:gridCol w="2519175">
                  <a:extLst>
                    <a:ext uri="{9D8B030D-6E8A-4147-A177-3AD203B41FA5}">
                      <a16:colId xmlns:a16="http://schemas.microsoft.com/office/drawing/2014/main" val="2889963876"/>
                    </a:ext>
                  </a:extLst>
                </a:gridCol>
                <a:gridCol w="2519175">
                  <a:extLst>
                    <a:ext uri="{9D8B030D-6E8A-4147-A177-3AD203B41FA5}">
                      <a16:colId xmlns:a16="http://schemas.microsoft.com/office/drawing/2014/main" val="321207521"/>
                    </a:ext>
                  </a:extLst>
                </a:gridCol>
                <a:gridCol w="2519175">
                  <a:extLst>
                    <a:ext uri="{9D8B030D-6E8A-4147-A177-3AD203B41FA5}">
                      <a16:colId xmlns:a16="http://schemas.microsoft.com/office/drawing/2014/main" val="20008793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Algorithm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Usage in BFSI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148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Centrality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Degree Centrality</a:t>
                      </a:r>
                    </a:p>
                    <a:p>
                      <a:r>
                        <a:rPr lang="en-US" sz="1200" dirty="0"/>
                        <a:t>Closeness Centrality</a:t>
                      </a:r>
                    </a:p>
                    <a:p>
                      <a:r>
                        <a:rPr lang="en-US" sz="1200" dirty="0"/>
                        <a:t>Betweenness Centrality</a:t>
                      </a:r>
                    </a:p>
                    <a:p>
                      <a:r>
                        <a:rPr lang="en-US" sz="1200" dirty="0"/>
                        <a:t>Page Rank</a:t>
                      </a:r>
                    </a:p>
                    <a:p>
                      <a:r>
                        <a:rPr lang="en-US" sz="1200" dirty="0"/>
                        <a:t>Article Rank</a:t>
                      </a:r>
                    </a:p>
                    <a:p>
                      <a:r>
                        <a:rPr lang="en-US" sz="1200" dirty="0"/>
                        <a:t>Eigenvector Centrality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Determines the importance of distinct nodes in the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Outliers, Influencers, Vulnerabilities ….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Fraud Detection</a:t>
                      </a:r>
                    </a:p>
                    <a:p>
                      <a:r>
                        <a:rPr lang="en-US" sz="1200" dirty="0"/>
                        <a:t>Anti-Money Laundering</a:t>
                      </a:r>
                    </a:p>
                    <a:p>
                      <a:r>
                        <a:rPr lang="en-US" sz="1200" dirty="0"/>
                        <a:t>Inform Prioritization during analysis and Investigation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1854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Community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Weakly Connected Components</a:t>
                      </a:r>
                    </a:p>
                    <a:p>
                      <a:r>
                        <a:rPr lang="en-US" sz="1200" dirty="0"/>
                        <a:t>Strongly Connect Components</a:t>
                      </a:r>
                    </a:p>
                    <a:p>
                      <a:r>
                        <a:rPr lang="en-US" sz="1200" dirty="0"/>
                        <a:t>Label Propagation</a:t>
                      </a:r>
                    </a:p>
                    <a:p>
                      <a:r>
                        <a:rPr lang="en-US" sz="1200" dirty="0"/>
                        <a:t>Louvain Modularity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Detects group clustering or partition options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Recommendations, Homophily, Outliers,…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KYC</a:t>
                      </a:r>
                    </a:p>
                    <a:p>
                      <a:r>
                        <a:rPr lang="en-US" sz="1200" dirty="0"/>
                        <a:t>Synthetic identifies</a:t>
                      </a:r>
                    </a:p>
                    <a:p>
                      <a:r>
                        <a:rPr lang="en-US" sz="1200" dirty="0"/>
                        <a:t>Stolen Identifies</a:t>
                      </a:r>
                    </a:p>
                    <a:p>
                      <a:r>
                        <a:rPr lang="en-US" sz="1200" dirty="0"/>
                        <a:t>Fraud Ring Detection</a:t>
                      </a:r>
                    </a:p>
                    <a:p>
                      <a:r>
                        <a:rPr lang="en-US" sz="1200" dirty="0"/>
                        <a:t>Anti-Money Laundering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1900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Similarity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Node Similarity</a:t>
                      </a:r>
                    </a:p>
                    <a:p>
                      <a:r>
                        <a:rPr lang="en-US" sz="1200" dirty="0"/>
                        <a:t>Nearest Neighbors</a:t>
                      </a:r>
                    </a:p>
                    <a:p>
                      <a:r>
                        <a:rPr lang="en-US" sz="1200" dirty="0"/>
                        <a:t>Cosine Similarity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How alike nodes are by neighbors and relationships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Recommendations, What-If Analysis, Disambiguation,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Entity Resolution</a:t>
                      </a:r>
                    </a:p>
                    <a:p>
                      <a:r>
                        <a:rPr lang="en-US" sz="1200" dirty="0"/>
                        <a:t>Synthetic identifies</a:t>
                      </a:r>
                    </a:p>
                    <a:p>
                      <a:r>
                        <a:rPr lang="en-US" sz="1200" dirty="0"/>
                        <a:t>Stolen Identities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923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Pathfinding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Shortest Path</a:t>
                      </a:r>
                    </a:p>
                    <a:p>
                      <a:r>
                        <a:rPr lang="en-US" sz="1200" dirty="0"/>
                        <a:t>Random Walk</a:t>
                      </a:r>
                    </a:p>
                    <a:p>
                      <a:r>
                        <a:rPr lang="en-US" sz="1200" dirty="0"/>
                        <a:t>Breadth First Search</a:t>
                      </a:r>
                    </a:p>
                    <a:p>
                      <a:r>
                        <a:rPr lang="en-US" sz="1200" dirty="0"/>
                        <a:t>Depth First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Finds Optimal Paths or evaluates route availability and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Shortest Path, Optimal Path, Route Optimization,….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79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Link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Common Neighbors</a:t>
                      </a:r>
                    </a:p>
                    <a:p>
                      <a:r>
                        <a:rPr lang="en-US" sz="1200" dirty="0"/>
                        <a:t>Same Community</a:t>
                      </a:r>
                    </a:p>
                    <a:p>
                      <a:r>
                        <a:rPr lang="en-US" sz="1200" dirty="0"/>
                        <a:t>Total Neighbors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Estimates the likelihood of nodes forming a future 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Link Prediction, Recommendations, Next Best Action ,….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9604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14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729FE-BD72-CC1B-9E07-7790A8261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Enrichment – Sample Algorithms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D2A4BC-ABDE-2783-C91D-5E77733AAD19}"/>
              </a:ext>
            </a:extLst>
          </p:cNvPr>
          <p:cNvSpPr txBox="1"/>
          <p:nvPr/>
        </p:nvSpPr>
        <p:spPr>
          <a:xfrm>
            <a:off x="0" y="2064279"/>
            <a:ext cx="5929745" cy="233910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720" marR="0" lvl="0" algn="just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4E84C4"/>
              </a:buClr>
              <a:buSzTx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Page Rank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647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4E84C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What : Finds important nodes based on their relationships</a:t>
            </a:r>
          </a:p>
          <a:p>
            <a:pPr marL="28647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4E84C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: Identify important or influential client nodes by quantifying the flows of money towards them.</a:t>
            </a:r>
          </a:p>
          <a:p>
            <a:pPr marL="28647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4E84C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Uses :</a:t>
            </a:r>
          </a:p>
          <a:p>
            <a:pPr marL="743670" lvl="1" indent="-285750" algn="just">
              <a:spcBef>
                <a:spcPts val="601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Fraud detection</a:t>
            </a:r>
          </a:p>
          <a:p>
            <a:pPr marL="743670" lvl="1" indent="-285750" algn="just">
              <a:spcBef>
                <a:spcPts val="601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Anti-money Laundering</a:t>
            </a:r>
          </a:p>
          <a:p>
            <a:pPr marL="743670" lvl="1" indent="-285750" algn="just">
              <a:spcBef>
                <a:spcPts val="601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 prioritization during analysis and investigation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A30FE0-BAD2-2205-F7BC-FC12D58C2064}"/>
              </a:ext>
            </a:extLst>
          </p:cNvPr>
          <p:cNvSpPr txBox="1"/>
          <p:nvPr/>
        </p:nvSpPr>
        <p:spPr>
          <a:xfrm>
            <a:off x="-13854" y="4518898"/>
            <a:ext cx="5929744" cy="233910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720" marR="0" lvl="0" algn="just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4E84C4"/>
              </a:buClr>
              <a:buSzTx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Weakly Connected Components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647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4E84C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What : Finds disconnected community subgraphs in our data</a:t>
            </a:r>
          </a:p>
          <a:p>
            <a:pPr marL="28647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4E84C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: Identify communities based on connections with shared pieces of identify</a:t>
            </a:r>
          </a:p>
          <a:p>
            <a:pPr marL="28647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4E84C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Uses :</a:t>
            </a:r>
          </a:p>
          <a:p>
            <a:pPr marL="743670" lvl="1" indent="-285750" algn="just">
              <a:spcBef>
                <a:spcPts val="601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Householding</a:t>
            </a:r>
          </a:p>
          <a:p>
            <a:pPr marL="743670" lvl="1" indent="-285750" algn="just">
              <a:spcBef>
                <a:spcPts val="601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Synthetic identities</a:t>
            </a:r>
          </a:p>
          <a:p>
            <a:pPr marL="743670" lvl="1" indent="-285750" algn="just">
              <a:spcBef>
                <a:spcPts val="601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Stolen identities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F91144-E28D-A640-2C6D-0E2BC53050C4}"/>
              </a:ext>
            </a:extLst>
          </p:cNvPr>
          <p:cNvSpPr txBox="1"/>
          <p:nvPr/>
        </p:nvSpPr>
        <p:spPr>
          <a:xfrm>
            <a:off x="6096000" y="2064279"/>
            <a:ext cx="6096000" cy="233910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720" marR="0" lvl="0" algn="just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4E84C4"/>
              </a:buClr>
              <a:buSzTx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Node Similarity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647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4E84C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What : Similarity between nodes based on neighbors. Writes a new relationship to the graph</a:t>
            </a:r>
          </a:p>
          <a:p>
            <a:pPr marL="28647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4E84C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: Identify similar nodes who share common pieces of identity</a:t>
            </a:r>
          </a:p>
          <a:p>
            <a:pPr marL="28647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4E84C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Uses :</a:t>
            </a:r>
          </a:p>
          <a:p>
            <a:pPr marL="743670" lvl="1" indent="-285750" algn="just">
              <a:spcBef>
                <a:spcPts val="601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Entity Resolution</a:t>
            </a:r>
          </a:p>
          <a:p>
            <a:pPr marL="743670" lvl="1" indent="-285750" algn="just">
              <a:spcBef>
                <a:spcPts val="601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Synthetic identities</a:t>
            </a:r>
          </a:p>
          <a:p>
            <a:pPr marL="743670" lvl="1" indent="-285750" algn="just">
              <a:spcBef>
                <a:spcPts val="601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Stolen identities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D4990E-249F-A8C4-A259-0FE95AE13419}"/>
              </a:ext>
            </a:extLst>
          </p:cNvPr>
          <p:cNvSpPr txBox="1"/>
          <p:nvPr/>
        </p:nvSpPr>
        <p:spPr>
          <a:xfrm>
            <a:off x="6096000" y="4518898"/>
            <a:ext cx="6096000" cy="226215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720" marR="0" lvl="0" algn="just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4E84C4"/>
              </a:buClr>
              <a:buSzTx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Louvain Modularity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647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4E84C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What : Finds communities in our graph who are connected. Can return intermediate results</a:t>
            </a:r>
          </a:p>
          <a:p>
            <a:pPr marL="28647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4E84C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: Useful for identifying communities based on transaction behavior rather than identity</a:t>
            </a:r>
          </a:p>
          <a:p>
            <a:pPr marL="28647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4E84C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Uses :</a:t>
            </a:r>
          </a:p>
          <a:p>
            <a:pPr marL="743670" lvl="1" indent="-285750" algn="just">
              <a:spcBef>
                <a:spcPts val="601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Fraud ring detection</a:t>
            </a:r>
          </a:p>
          <a:p>
            <a:pPr marL="743670" lvl="1" indent="-285750" algn="just">
              <a:spcBef>
                <a:spcPts val="601"/>
              </a:spcBef>
              <a:buClr>
                <a:srgbClr val="4E84C4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Anti-Money Laundering</a:t>
            </a:r>
          </a:p>
        </p:txBody>
      </p:sp>
    </p:spTree>
    <p:extLst>
      <p:ext uri="{BB962C8B-B14F-4D97-AF65-F5344CB8AC3E}">
        <p14:creationId xmlns:p14="http://schemas.microsoft.com/office/powerpoint/2010/main" val="3768702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7C81F-D969-17D4-8EEA-CF33EEC65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Enrichment – Sample Variables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D02E9A-2832-DC9C-2D80-C133D0F96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530865"/>
              </p:ext>
            </p:extLst>
          </p:nvPr>
        </p:nvGraphicFramePr>
        <p:xfrm>
          <a:off x="1297708" y="2188249"/>
          <a:ext cx="10168127" cy="4226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0900">
                  <a:extLst>
                    <a:ext uri="{9D8B030D-6E8A-4147-A177-3AD203B41FA5}">
                      <a16:colId xmlns:a16="http://schemas.microsoft.com/office/drawing/2014/main" val="396725936"/>
                    </a:ext>
                  </a:extLst>
                </a:gridCol>
                <a:gridCol w="7337227">
                  <a:extLst>
                    <a:ext uri="{9D8B030D-6E8A-4147-A177-3AD203B41FA5}">
                      <a16:colId xmlns:a16="http://schemas.microsoft.com/office/drawing/2014/main" val="2143998440"/>
                    </a:ext>
                  </a:extLst>
                </a:gridCol>
              </a:tblGrid>
              <a:tr h="528301">
                <a:tc>
                  <a:txBody>
                    <a:bodyPr/>
                    <a:lstStyle/>
                    <a:p>
                      <a:r>
                        <a:rPr lang="en-US" dirty="0"/>
                        <a:t>Derived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44326"/>
                  </a:ext>
                </a:extLst>
              </a:tr>
              <a:tr h="528301">
                <a:tc>
                  <a:txBody>
                    <a:bodyPr/>
                    <a:lstStyle/>
                    <a:p>
                      <a:r>
                        <a:rPr lang="en-US" dirty="0" err="1"/>
                        <a:t>wccId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WCC Community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925989"/>
                  </a:ext>
                </a:extLst>
              </a:tr>
              <a:tr h="528301">
                <a:tc>
                  <a:txBody>
                    <a:bodyPr/>
                    <a:lstStyle/>
                    <a:p>
                      <a:r>
                        <a:rPr lang="en-US" dirty="0" err="1"/>
                        <a:t>fraudRisk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Fraud Risk users identified from the WCC community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391003"/>
                  </a:ext>
                </a:extLst>
              </a:tr>
              <a:tr h="528301">
                <a:tc>
                  <a:txBody>
                    <a:bodyPr/>
                    <a:lstStyle/>
                    <a:p>
                      <a:r>
                        <a:rPr lang="en-US" dirty="0" err="1"/>
                        <a:t>sharedIdsDegree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of users connected with SHARED_IDS relationship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009699"/>
                  </a:ext>
                </a:extLst>
              </a:tr>
              <a:tr h="528301">
                <a:tc>
                  <a:txBody>
                    <a:bodyPr/>
                    <a:lstStyle/>
                    <a:p>
                      <a:r>
                        <a:rPr lang="en-US" dirty="0" err="1"/>
                        <a:t>ipDegree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IP nodes connected to the 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634414"/>
                  </a:ext>
                </a:extLst>
              </a:tr>
              <a:tr h="528301">
                <a:tc>
                  <a:txBody>
                    <a:bodyPr/>
                    <a:lstStyle/>
                    <a:p>
                      <a:r>
                        <a:rPr lang="en-US" dirty="0" err="1"/>
                        <a:t>cardDegree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CARD nodes connected to the 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262449"/>
                  </a:ext>
                </a:extLst>
              </a:tr>
              <a:tr h="528301">
                <a:tc>
                  <a:txBody>
                    <a:bodyPr/>
                    <a:lstStyle/>
                    <a:p>
                      <a:r>
                        <a:rPr lang="en-US" dirty="0" err="1"/>
                        <a:t>deviceDegree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DEVICE nodes connected to the 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105756"/>
                  </a:ext>
                </a:extLst>
              </a:tr>
              <a:tr h="528301">
                <a:tc>
                  <a:txBody>
                    <a:bodyPr/>
                    <a:lstStyle/>
                    <a:p>
                      <a:r>
                        <a:rPr lang="en-US" dirty="0"/>
                        <a:t>Community </a:t>
                      </a:r>
                      <a:r>
                        <a:rPr lang="en-US" dirty="0" err="1"/>
                        <a:t>SIze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 of the community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084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540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277C-2CF7-0401-0639-6AEADB803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Book of work done through Graph Database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5E1D31-A70B-9763-2BF1-FB96EEAA5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704227"/>
              </p:ext>
            </p:extLst>
          </p:nvPr>
        </p:nvGraphicFramePr>
        <p:xfrm>
          <a:off x="706581" y="1728216"/>
          <a:ext cx="11125197" cy="49059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75855">
                  <a:extLst>
                    <a:ext uri="{9D8B030D-6E8A-4147-A177-3AD203B41FA5}">
                      <a16:colId xmlns:a16="http://schemas.microsoft.com/office/drawing/2014/main" val="3249074875"/>
                    </a:ext>
                  </a:extLst>
                </a:gridCol>
                <a:gridCol w="2646219">
                  <a:extLst>
                    <a:ext uri="{9D8B030D-6E8A-4147-A177-3AD203B41FA5}">
                      <a16:colId xmlns:a16="http://schemas.microsoft.com/office/drawing/2014/main" val="3039403477"/>
                    </a:ext>
                  </a:extLst>
                </a:gridCol>
                <a:gridCol w="1771117">
                  <a:extLst>
                    <a:ext uri="{9D8B030D-6E8A-4147-A177-3AD203B41FA5}">
                      <a16:colId xmlns:a16="http://schemas.microsoft.com/office/drawing/2014/main" val="2461982164"/>
                    </a:ext>
                  </a:extLst>
                </a:gridCol>
                <a:gridCol w="3562883">
                  <a:extLst>
                    <a:ext uri="{9D8B030D-6E8A-4147-A177-3AD203B41FA5}">
                      <a16:colId xmlns:a16="http://schemas.microsoft.com/office/drawing/2014/main" val="3194517905"/>
                    </a:ext>
                  </a:extLst>
                </a:gridCol>
                <a:gridCol w="2369123">
                  <a:extLst>
                    <a:ext uri="{9D8B030D-6E8A-4147-A177-3AD203B41FA5}">
                      <a16:colId xmlns:a16="http://schemas.microsoft.com/office/drawing/2014/main" val="164051156"/>
                    </a:ext>
                  </a:extLst>
                </a:gridCol>
              </a:tblGrid>
              <a:tr h="456325">
                <a:tc>
                  <a:txBody>
                    <a:bodyPr/>
                    <a:lstStyle/>
                    <a:p>
                      <a:r>
                        <a:rPr lang="en-US" sz="1400" dirty="0" err="1"/>
                        <a:t>S.No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Opportunity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Team Involved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330553"/>
                  </a:ext>
                </a:extLst>
              </a:tr>
              <a:tr h="402640">
                <a:tc>
                  <a:txBody>
                    <a:bodyPr/>
                    <a:lstStyle/>
                    <a:p>
                      <a:r>
                        <a:rPr lang="en-US" sz="12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Retail Graph Proof of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NatWest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Vijay Akula, Ekta Garg, Ankur Jain , Sangeeta Nair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65028"/>
                  </a:ext>
                </a:extLst>
              </a:tr>
              <a:tr h="402640">
                <a:tc>
                  <a:txBody>
                    <a:bodyPr/>
                    <a:lstStyle/>
                    <a:p>
                      <a:r>
                        <a:rPr lang="en-US" sz="12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Commercial Graph Proof of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NatWest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Arup, Jyostna, Athira, Ganesh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291148"/>
                  </a:ext>
                </a:extLst>
              </a:tr>
              <a:tr h="326585">
                <a:tc>
                  <a:txBody>
                    <a:bodyPr/>
                    <a:lstStyle/>
                    <a:p>
                      <a:r>
                        <a:rPr lang="en-US" sz="12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RDF to Neo4J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Chubb Insurance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Prashant, Ekta Garg, Kartick Paul, Abirami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Shelfed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566621"/>
                  </a:ext>
                </a:extLst>
              </a:tr>
              <a:tr h="724751">
                <a:tc>
                  <a:txBody>
                    <a:bodyPr/>
                    <a:lstStyle/>
                    <a:p>
                      <a:r>
                        <a:rPr lang="en-US" sz="12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Maintenance of Neo4J – Fraud Analytics Instance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Nationwide Insurance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Rama Narayanan &amp; Account Team (BRM, DP)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Shelfed</a:t>
                      </a:r>
                    </a:p>
                    <a:p>
                      <a:endParaRPr lang="en-US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RFP Submitted - Need for 2 Senior Neo4J Associates + DevOps for Offshore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777686"/>
                  </a:ext>
                </a:extLst>
              </a:tr>
              <a:tr h="563695"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</a:rPr>
                        <a:t>5.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 Segmentation – Youth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NatWest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Sangeeta Nair, Jyostna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415085"/>
                  </a:ext>
                </a:extLst>
              </a:tr>
              <a:tr h="326585">
                <a:tc>
                  <a:txBody>
                    <a:bodyPr/>
                    <a:lstStyle/>
                    <a:p>
                      <a:r>
                        <a:rPr lang="en-US" sz="12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Transaction Monitoring – Payments – Graph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NatWest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Neha, Ganesh &amp; Athira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In-Progress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343213"/>
                  </a:ext>
                </a:extLst>
              </a:tr>
              <a:tr h="724751">
                <a:tc>
                  <a:txBody>
                    <a:bodyPr/>
                    <a:lstStyle/>
                    <a:p>
                      <a:r>
                        <a:rPr lang="en-US" sz="12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Creation of Knowledge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London Stock Exchange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Sanju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In-Progress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450469"/>
                  </a:ext>
                </a:extLst>
              </a:tr>
              <a:tr h="326585">
                <a:tc>
                  <a:txBody>
                    <a:bodyPr/>
                    <a:lstStyle/>
                    <a:p>
                      <a:r>
                        <a:rPr lang="en-US" sz="12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Creating Knowledge Graph on Call Recordings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Vanguard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Sangeeta Nair, Jyostna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In-Progress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0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43683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2019</TotalTime>
  <Words>962</Words>
  <Application>Microsoft Office PowerPoint</Application>
  <PresentationFormat>Widescreen</PresentationFormat>
  <Paragraphs>206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Avenir</vt:lpstr>
      <vt:lpstr>Avenir Next LT Pro</vt:lpstr>
      <vt:lpstr>Calibri</vt:lpstr>
      <vt:lpstr>AccentBoxVTI</vt:lpstr>
      <vt:lpstr>Pathfinder </vt:lpstr>
      <vt:lpstr>Analyst View on Gen AI, Graph DB &amp; Ontologies</vt:lpstr>
      <vt:lpstr>Pathfinder - Use Case</vt:lpstr>
      <vt:lpstr>Gen AI – Challenges it poses</vt:lpstr>
      <vt:lpstr>Shortcomings of Traditional RDBMS</vt:lpstr>
      <vt:lpstr>Why use Graph for Gen AI ?</vt:lpstr>
      <vt:lpstr>What is a Knowledge Graph ?</vt:lpstr>
      <vt:lpstr>Knowledge Graphs - Triples</vt:lpstr>
      <vt:lpstr>Gen AI for Knowledge Graph Creation</vt:lpstr>
      <vt:lpstr>Feature Enrichment of Data through GDS</vt:lpstr>
      <vt:lpstr>Feature Enrichment – Sample Algorithms</vt:lpstr>
      <vt:lpstr>Feature Enrichment – Sample Variables</vt:lpstr>
      <vt:lpstr>Book of work done through Graph Database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NEHA SEHGAL</dc:creator>
  <cp:lastModifiedBy>RAMA NARAYANAN</cp:lastModifiedBy>
  <cp:revision>27</cp:revision>
  <dcterms:created xsi:type="dcterms:W3CDTF">2024-02-21T08:27:25Z</dcterms:created>
  <dcterms:modified xsi:type="dcterms:W3CDTF">2025-08-06T04:55:19Z</dcterms:modified>
</cp:coreProperties>
</file>